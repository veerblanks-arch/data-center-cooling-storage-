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01ED72-F9F0-45BB-BD70-40937139EA29}">
  <a:tblStyle styleId="{F101ED72-F9F0-45BB-BD70-40937139EA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loss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loss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loss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researchQsSlide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researchQsSlide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ashrae in </a:t>
            </a:r>
            <a:r>
              <a:rPr lang="en-US"/>
              <a:t>slideshow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 a wordbank/glossary of terms at the end of the slideshow </a:t>
            </a:r>
            <a:endParaRPr/>
          </a:p>
        </p:txBody>
      </p:sp>
      <p:sp>
        <p:nvSpPr>
          <p:cNvPr id="342" name="Google Shape;342;researchQsSlide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regQsSlide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regQsSlide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regQsSlide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regQsSlide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regQsSlide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regQsSlide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regQsSlide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regQsSlide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regQsSlide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vizq1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vizq1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vizq1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vizq2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vizq2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vizq2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vizq3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vizq3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vizq3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vizq4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vizq4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vizq4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vizq5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vizq5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vizq5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ml_script01_detail_v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ml_script01_detail_v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ml_script01_detail_v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ml_script02_detail_v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ml_script02_detail_v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ml_script02_detail_v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ml_script03_detail_v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ml_script03_detail_v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ml_script03_detail_v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refs0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refs0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refs0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implementation_update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implementation_update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implementation_update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14173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AFC4"/>
                </a:solidFill>
                <a:latin typeface="Calibri"/>
                <a:ea typeface="Calibri"/>
                <a:cs typeface="Calibri"/>
                <a:sym typeface="Calibri"/>
              </a:rPr>
              <a:t>BYTESMART INTERNSHIP CASE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1783080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 Center Cooling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Regulation &amp; Sensor Technology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370332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3D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BFD3DC"/>
                </a:solidFill>
                <a:latin typeface="Calibri"/>
                <a:ea typeface="Calibri"/>
                <a:cs typeface="Calibri"/>
                <a:sym typeface="Calibri"/>
              </a:rPr>
              <a:t>Sensor-based monitoring and real-world data collection using temperature, humidity, and pressure sensors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A6B3"/>
                </a:solidFill>
                <a:latin typeface="Calibri"/>
                <a:ea typeface="Calibri"/>
                <a:cs typeface="Calibri"/>
                <a:sym typeface="Calibri"/>
              </a:rPr>
              <a:t>Ranveer Singh</a:t>
            </a:r>
            <a:r>
              <a:rPr b="0" i="0" lang="en-US" sz="1300" u="none" cap="none" strike="noStrike">
                <a:solidFill>
                  <a:srgbClr val="8FA6B3"/>
                </a:solidFill>
                <a:latin typeface="Calibri"/>
                <a:ea typeface="Calibri"/>
                <a:cs typeface="Calibri"/>
                <a:sym typeface="Calibri"/>
              </a:rPr>
              <a:t>   ·   Partnered with ByteSmart   · 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497" y="53007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48640" y="5074920"/>
            <a:ext cx="868680" cy="868680"/>
          </a:xfrm>
          <a:prstGeom prst="ellipse">
            <a:avLst/>
          </a:prstGeom>
          <a:noFill/>
          <a:ln cap="flat" cmpd="sng" w="1587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28600" y="6053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920240" y="5074920"/>
            <a:ext cx="868680" cy="868680"/>
          </a:xfrm>
          <a:prstGeom prst="ellipse">
            <a:avLst/>
          </a:prstGeom>
          <a:solidFill>
            <a:srgbClr val="172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097" y="53007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1920240" y="5074920"/>
            <a:ext cx="868680" cy="868680"/>
          </a:xfrm>
          <a:prstGeom prst="ellipse">
            <a:avLst/>
          </a:prstGeom>
          <a:noFill/>
          <a:ln cap="flat" cmpd="sng" w="1587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600200" y="6053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HUMIDITY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291840" y="5074920"/>
            <a:ext cx="868680" cy="868680"/>
          </a:xfrm>
          <a:prstGeom prst="ellipse">
            <a:avLst/>
          </a:prstGeom>
          <a:solidFill>
            <a:srgbClr val="172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7697" y="5300777"/>
            <a:ext cx="416966" cy="41696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3291840" y="5074920"/>
            <a:ext cx="868680" cy="868680"/>
          </a:xfrm>
          <a:prstGeom prst="ellipse">
            <a:avLst/>
          </a:prstGeom>
          <a:noFill/>
          <a:ln cap="flat" cmpd="sng" w="1587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971800" y="605332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PRESSURE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619695" y="62179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F8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Includes Arduino DHT22 + BMP280 Field Sensor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This case study has two halves: the research behind data center cooling, and the live analysis pipeline built to put that research into practice.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2148840"/>
            <a:ext cx="5166360" cy="3977640"/>
          </a:xfrm>
          <a:prstGeom prst="roundRect">
            <a:avLst>
              <a:gd fmla="val 1839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821" y="26810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1783080" y="2496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783080" y="271576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Research Report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" y="338328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How data centers generate and manage heat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three sensor types: temperature, humidity, pressure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ASHRAE standards and industry regulation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Environmental costs and counteractions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Building a real Arduino DHT22 + BMP280 sensor station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72200" y="2148840"/>
            <a:ext cx="5166360" cy="3977640"/>
          </a:xfrm>
          <a:prstGeom prst="roundRect">
            <a:avLst>
              <a:gd fmla="val 1839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537960" y="2514600"/>
            <a:ext cx="640080" cy="64008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4381" y="26810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7406640" y="2496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7406640" y="271576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Analysis Pipeline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537960" y="3383280"/>
            <a:ext cx="443484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Inside the Google Colab notebook, cell by cell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 bug found in the code — and the fix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How the notebook's dataset ties back to the report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What 5 months of real sensor data actually shows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Takeaways connecting the report to the pipeline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GLOSSARY · WORD BANK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48640" y="73152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Glossary: Cooling + ML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48640" y="1230000"/>
            <a:ext cx="10599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 quick reference for the data-center terms and model vocabulary used throughout this case study.</a:t>
            </a:r>
            <a:endParaRPr sz="150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700000"/>
            <a:ext cx="3399900" cy="3560100"/>
          </a:xfrm>
          <a:prstGeom prst="rect">
            <a:avLst/>
          </a:prstGeom>
          <a:solidFill>
            <a:srgbClr val="F4FAFB"/>
          </a:solidFill>
          <a:ln cap="flat" cmpd="sng" w="12700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390000" y="1700000"/>
            <a:ext cx="3399900" cy="3560100"/>
          </a:xfrm>
          <a:prstGeom prst="rect">
            <a:avLst/>
          </a:prstGeom>
          <a:solidFill>
            <a:srgbClr val="F4FAFB"/>
          </a:solidFill>
          <a:ln cap="flat" cmpd="sng" w="12700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230000" y="1700000"/>
            <a:ext cx="3399900" cy="3560100"/>
          </a:xfrm>
          <a:prstGeom prst="rect">
            <a:avLst/>
          </a:prstGeom>
          <a:solidFill>
            <a:srgbClr val="F4FAFB"/>
          </a:solidFill>
          <a:ln cap="flat" cmpd="sng" w="12700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760000" y="1900000"/>
            <a:ext cx="285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SENSORS &amp; AIRFLOW</a:t>
            </a:r>
            <a:endParaRPr b="1" sz="13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4600000" y="1900000"/>
            <a:ext cx="285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COOLING &amp; EFFICIENCY</a:t>
            </a:r>
            <a:endParaRPr b="1" sz="13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440000" y="1900000"/>
            <a:ext cx="285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RISK &amp; MODEL TERMS</a:t>
            </a:r>
            <a:endParaRPr b="1" sz="13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760000" y="2300000"/>
            <a:ext cx="28500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ASHRAE: thermal guidance benchmark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Inlet temp: air entering servers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Outlet temp: warmed air leaving servers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Thermal delta: outlet minus inlet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AHU: moves and conditions air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4600000" y="2300000"/>
            <a:ext cx="28500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Chiller: removes water-side heat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Cold source: chilled-water side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Cooling power: cooling draw in kW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PUE: total facility energy / IT energy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Ambient heat stress: outdoor heat raises demand</a:t>
            </a:r>
            <a:endParaRPr sz="13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8440000" y="2300000"/>
            <a:ext cx="28500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ESD: static risk at low humidity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Condensation: moisture risk at high humidity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Workload: compute demand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Train/test: fit, then evaluate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Inference: use saved models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Pickle (.pkl): stored model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CER: claim, evidence, reasoning</a:t>
            </a:r>
            <a:endParaRPr sz="125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Every Click Runs Through a Data Center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1481328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Streaming a video, sending an email, or asking an AI a question all route to a data center — a building packed with thousands of servers running around the clock. Keeping them cool isn't just about performance; it prevents fires, equipment failure, and large-scale outages.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2697480"/>
            <a:ext cx="2542032" cy="2194560"/>
          </a:xfrm>
          <a:prstGeom prst="roundRect">
            <a:avLst>
              <a:gd fmla="val 3333" name="adj"/>
            </a:avLst>
          </a:prstGeom>
          <a:solidFill>
            <a:srgbClr val="FCE8DD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777240" y="2971800"/>
            <a:ext cx="20848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5,000+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77240" y="3474720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U.S. data centers as of 2024 — about a third of the world's total capacity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255264" y="2697480"/>
            <a:ext cx="2542032" cy="2194560"/>
          </a:xfrm>
          <a:prstGeom prst="roundRect">
            <a:avLst>
              <a:gd fmla="val 3333" name="adj"/>
            </a:avLst>
          </a:prstGeom>
          <a:solidFill>
            <a:srgbClr val="E3F4F7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3483864" y="2971800"/>
            <a:ext cx="20848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2A"/>
                </a:solidFill>
                <a:latin typeface="Cambria"/>
                <a:ea typeface="Cambria"/>
                <a:cs typeface="Cambria"/>
                <a:sym typeface="Cambria"/>
              </a:rPr>
              <a:t>40–140 kW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3483864" y="3474720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power draw of a single AI-focused server rack (vs. ~1.2 kW for an average home)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961888" y="2697480"/>
            <a:ext cx="2542032" cy="2194560"/>
          </a:xfrm>
          <a:prstGeom prst="roundRect">
            <a:avLst>
              <a:gd fmla="val 3333" name="adj"/>
            </a:avLst>
          </a:prstGeom>
          <a:solidFill>
            <a:srgbClr val="E3F4F7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190488" y="2971800"/>
            <a:ext cx="20848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2A"/>
                </a:solidFill>
                <a:latin typeface="Cambria"/>
                <a:ea typeface="Cambria"/>
                <a:cs typeface="Cambria"/>
                <a:sym typeface="Cambria"/>
              </a:rPr>
              <a:t>460 TWh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190488" y="3474720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electricity used by global data centers in 2025, projected to exceed 800 TWh by 2028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8668512" y="2697480"/>
            <a:ext cx="2542032" cy="2194560"/>
          </a:xfrm>
          <a:prstGeom prst="roundRect">
            <a:avLst>
              <a:gd fmla="val 3333" name="adj"/>
            </a:avLst>
          </a:prstGeom>
          <a:solidFill>
            <a:srgbClr val="E3F4F7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8897112" y="2971800"/>
            <a:ext cx="20848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2A"/>
                </a:solidFill>
                <a:latin typeface="Cambria"/>
                <a:ea typeface="Cambria"/>
                <a:cs typeface="Cambria"/>
                <a:sym typeface="Cambria"/>
              </a:rPr>
              <a:t>1.8%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8897112" y="3474720"/>
            <a:ext cx="20848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share of total world electricity demand that figure represents — rivaling all of France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8640" y="52120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Because nearly all of that electricity eventually becomes heat, cooling systems must run 24 / 7 / 365 — with no days off.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THE HEAT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Heat Is the #1 Enemy of Hardware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508760"/>
            <a:ext cx="6309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Every chip has an operating range — past it, hardware throttles, crashes, or fails permanently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 single unchecked hotspot can cascade into a full outage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Cooling-related problems cause 19% of all data center outages (Uptime Institute, 2024)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More than half of organizations report their most recent major outage cost over $100,000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48640" y="3977640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What happens as a server overheats: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48640" y="4370832"/>
            <a:ext cx="1371600" cy="777240"/>
          </a:xfrm>
          <a:prstGeom prst="roundRect">
            <a:avLst>
              <a:gd fmla="val 7059" name="adj"/>
            </a:avLst>
          </a:prstGeom>
          <a:solidFill>
            <a:srgbClr val="F6F9FA"/>
          </a:solidFill>
          <a:ln cap="flat" cmpd="sng" w="9525">
            <a:solidFill>
              <a:srgbClr val="DC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21792" y="4370832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Fans spin faster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920240" y="4370832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194560" y="4370832"/>
            <a:ext cx="1371600" cy="777240"/>
          </a:xfrm>
          <a:prstGeom prst="roundRect">
            <a:avLst>
              <a:gd fmla="val 7059" name="adj"/>
            </a:avLst>
          </a:prstGeom>
          <a:solidFill>
            <a:srgbClr val="F6F9FA"/>
          </a:solidFill>
          <a:ln cap="flat" cmpd="sng" w="9525">
            <a:solidFill>
              <a:srgbClr val="DC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2267712" y="4370832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CPU throttles speed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566160" y="4370832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840480" y="4370832"/>
            <a:ext cx="1371600" cy="777240"/>
          </a:xfrm>
          <a:prstGeom prst="roundRect">
            <a:avLst>
              <a:gd fmla="val 7059" name="adj"/>
            </a:avLst>
          </a:prstGeom>
          <a:solidFill>
            <a:srgbClr val="F6F9FA"/>
          </a:solidFill>
          <a:ln cap="flat" cmpd="sng" w="9525">
            <a:solidFill>
              <a:srgbClr val="DC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3913632" y="4370832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Server shuts down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212080" y="4370832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0" y="4370832"/>
            <a:ext cx="1371600" cy="777240"/>
          </a:xfrm>
          <a:prstGeom prst="roundRect">
            <a:avLst>
              <a:gd fmla="val 7059" name="adj"/>
            </a:avLst>
          </a:prstGeom>
          <a:solidFill>
            <a:srgbClr val="FCE8DD"/>
          </a:solidFill>
          <a:ln cap="flat" cmpd="sng" w="9525">
            <a:solidFill>
              <a:srgbClr val="DC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559552" y="4370832"/>
            <a:ext cx="12252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Risk spreads to the room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7223760" y="1508760"/>
            <a:ext cx="4419295" cy="3886200"/>
          </a:xfrm>
          <a:prstGeom prst="roundRect">
            <a:avLst>
              <a:gd fmla="val 1882" name="adj"/>
            </a:avLst>
          </a:prstGeom>
          <a:solidFill>
            <a:srgbClr val="0F1B2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9044788" y="1755648"/>
            <a:ext cx="777240" cy="77724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6870" y="1957730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7498080" y="2697480"/>
            <a:ext cx="38706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ASHRAE Inlet Temperature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498080" y="3017520"/>
            <a:ext cx="387065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18–27°C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498080" y="3538728"/>
            <a:ext cx="38706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recommended range (64.4–80.6°F)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7"/>
          <p:cNvCxnSpPr/>
          <p:nvPr/>
        </p:nvCxnSpPr>
        <p:spPr>
          <a:xfrm>
            <a:off x="7772400" y="3977640"/>
            <a:ext cx="3322015" cy="0"/>
          </a:xfrm>
          <a:prstGeom prst="straightConnector1">
            <a:avLst/>
          </a:prstGeom>
          <a:noFill/>
          <a:ln cap="flat" cmpd="sng" w="12700">
            <a:solidFill>
              <a:srgbClr val="2A3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7"/>
          <p:cNvSpPr/>
          <p:nvPr/>
        </p:nvSpPr>
        <p:spPr>
          <a:xfrm>
            <a:off x="7498080" y="4096512"/>
            <a:ext cx="38706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32°C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498080" y="4480560"/>
            <a:ext cx="387065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allowable maximum before risk (89.6°F)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COOLING INFRASTRUCTURE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Keeping Hot and Cold Apart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48640" y="1463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Racks alternate so cold air intakes face each other and hot exhausts face each other — preventing hot exhaust from mixing back into intake air. ASHRAE-style hot/cold aisle containment cuts cooling energy use by 15–20%.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8"/>
          <p:cNvGraphicFramePr/>
          <p:nvPr/>
        </p:nvGraphicFramePr>
        <p:xfrm>
          <a:off x="54864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{F101ED72-F9F0-45BB-BD70-40937139EA29}</a:tableStyleId>
              </a:tblPr>
              <a:tblGrid>
                <a:gridCol w="2468875"/>
                <a:gridCol w="4206250"/>
                <a:gridCol w="2651750"/>
                <a:gridCol w="1463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Works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Efficiency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Refrigerant-based air cooling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Small server rooms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CRAH + Chilled Water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Chilled water circulated through coils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Medium–large data centers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Direct-to-Chip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 plates on CPUs / GPUs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High-density AI racks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Immersion Cooling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Servers submerged in dielectric fluid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Ultra-dense deployments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High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Free Cooling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Outdoor air / ambient temperatures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Cold-climate facilities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Excellent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8"/>
          <p:cNvSpPr/>
          <p:nvPr/>
        </p:nvSpPr>
        <p:spPr>
          <a:xfrm>
            <a:off x="548640" y="54406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By 2024, liquid-based cooling had captured 46% of the data center cooling market — and that share keeps growing as AI racks push past 100 kW.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Nervous System of a Data Center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48640" y="160020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1851660" y="1920240"/>
            <a:ext cx="822960" cy="82296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5630" y="21342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777240" y="2926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Temperature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41248" y="3383280"/>
            <a:ext cx="28437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The most direct indicator of hardware health. Measured at server inlets, outlets, and rack tops/bottoms — ASHRAE requires sensors at the top, middle, and bottom of every third rack.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224528" y="160020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5527548" y="1920240"/>
            <a:ext cx="822960" cy="822960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1518" y="21342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4453128" y="2926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Humidity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17136" y="3383280"/>
            <a:ext cx="28437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Too dry (&lt;40% RH) risks electrostatic discharge that can destroy a chip instantly. Too humid (&gt;60% RH) causes condensation, short circuits, and corrosion.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7900416" y="160020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9203436" y="1920240"/>
            <a:ext cx="822960" cy="82296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7406" y="21342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8129016" y="292608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Pressure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193024" y="3383280"/>
            <a:ext cx="2843784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Differential pressure confirms cold air is reaching every rack at the right speed. A pressure drop flags blocked vents, clogged filters, or failed fans.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INDUSTRY STANDARDS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Rulebook: ASHRAE Classes + PUE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48640" y="146304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ASHRAE Equipment 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10"/>
          <p:cNvGraphicFramePr/>
          <p:nvPr/>
        </p:nvGraphicFramePr>
        <p:xfrm>
          <a:off x="548640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{F101ED72-F9F0-45BB-BD70-40937139EA29}</a:tableStyleId>
              </a:tblPr>
              <a:tblGrid>
                <a:gridCol w="1097275"/>
                <a:gridCol w="1737350"/>
                <a:gridCol w="1463050"/>
                <a:gridCol w="17373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 Range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Use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15–32°C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20–80%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centers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10–35°C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20–80%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spaces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5–40°C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8–85%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Offices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5–45°C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8–90%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Warehouses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10"/>
          <p:cNvSpPr/>
          <p:nvPr/>
        </p:nvSpPr>
        <p:spPr>
          <a:xfrm>
            <a:off x="548640" y="416052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Minimum 3 temperature sensors per rack (top / middle / bottom)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Sensors must measure at the server inlet, not room air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Humidity sensors need ±3% RH accuracy or better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Temperature change must not exceed 5°C per hour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6995160" y="1463040"/>
            <a:ext cx="4647895" cy="3611880"/>
          </a:xfrm>
          <a:prstGeom prst="roundRect">
            <a:avLst>
              <a:gd fmla="val 2025" name="adj"/>
            </a:avLst>
          </a:prstGeom>
          <a:solidFill>
            <a:srgbClr val="0F1B2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7315200" y="1691640"/>
            <a:ext cx="40078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Usage Effectiveness (PUE)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7315200" y="2057400"/>
            <a:ext cx="400781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Total facility energy ÷ energy used by IT equipment alone. Lower is better.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7315200" y="269748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1.0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8503920" y="2697480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Theoretical perfect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7315200" y="311810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1.1–1.2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503920" y="3118104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Excellent (hyperscale)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7315200" y="35387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9FB7C2"/>
                </a:solidFill>
                <a:latin typeface="Cambria"/>
                <a:ea typeface="Cambria"/>
                <a:cs typeface="Cambria"/>
                <a:sym typeface="Cambria"/>
              </a:rPr>
              <a:t>1.2–1.4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503920" y="3538728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Good — efficient facility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7315200" y="39593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9FB7C2"/>
                </a:solidFill>
                <a:latin typeface="Cambria"/>
                <a:ea typeface="Cambria"/>
                <a:cs typeface="Cambria"/>
                <a:sym typeface="Cambria"/>
              </a:rPr>
              <a:t>1.4–1.6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503920" y="3959352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Average (industry ~1.55)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7315200" y="4379976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&gt;1.6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8503920" y="4379976"/>
            <a:ext cx="2819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Poor / outdated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ENVIRONMENTAL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Price Tag Behind the Cooling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548640" y="1508760"/>
            <a:ext cx="3429000" cy="2286000"/>
          </a:xfrm>
          <a:prstGeom prst="roundRect">
            <a:avLst>
              <a:gd fmla="val 3200" name="adj"/>
            </a:avLst>
          </a:prstGeom>
          <a:solidFill>
            <a:srgbClr val="FCE8DD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841248" y="196596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176 TWh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841248" y="246888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U.S. data center electricity in 2023 — 4.4% of all U.S. consumption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224528" y="1508760"/>
            <a:ext cx="3429000" cy="2286000"/>
          </a:xfrm>
          <a:prstGeom prst="roundRect">
            <a:avLst>
              <a:gd fmla="val 3200" name="adj"/>
            </a:avLst>
          </a:prstGeom>
          <a:solidFill>
            <a:srgbClr val="FCE8DD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4517136" y="196596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105M tons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517136" y="246888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CO₂-equivalent emitted — a 300% increase in just six years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900416" y="1508760"/>
            <a:ext cx="3429000" cy="2286000"/>
          </a:xfrm>
          <a:prstGeom prst="roundRect">
            <a:avLst>
              <a:gd fmla="val 3200" name="adj"/>
            </a:avLst>
          </a:prstGeom>
          <a:solidFill>
            <a:srgbClr val="FCE8DD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8193024" y="196596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17.4B gal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8193024" y="2468880"/>
            <a:ext cx="28437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freshwater consumed by U.S. data centers in 2023 alone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8640" y="4160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Solutions already underway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4617720"/>
            <a:ext cx="530352" cy="530352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532" y="475561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1207008" y="459943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Renewable energy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5239512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Hyperscalers committing to 100% renewable power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3337560" y="4617720"/>
            <a:ext cx="530352" cy="530352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5452" y="475561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/>
          <p:nvPr/>
        </p:nvSpPr>
        <p:spPr>
          <a:xfrm>
            <a:off x="3995928" y="459943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Liquid cooling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3337560" y="5239512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Direct-to-chip &amp; immersion cut PUE significantly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126480" y="4617720"/>
            <a:ext cx="530352" cy="530352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4372" y="475561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1"/>
          <p:cNvSpPr/>
          <p:nvPr/>
        </p:nvSpPr>
        <p:spPr>
          <a:xfrm>
            <a:off x="6784848" y="459943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Zero-water designs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126480" y="5239512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Microsoft: closed-loop chip cooling saves 125M+ L/yr per site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915400" y="4617720"/>
            <a:ext cx="530352" cy="530352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3292" y="475561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9573768" y="4599432"/>
            <a:ext cx="1947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Sensor-driven tuning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915400" y="5239512"/>
            <a:ext cx="2606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Real-time data avoids overcooling, saving energy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REAL-WORLD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From Theory to Real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8640" y="1463040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report references a public dataset — the Data Center Cold Source Control Dataset on Kaggle — capturing sensor readings from the chilled-water “cold source” side of a real cooling system. This is the exact file the Colab pipeline in Part 2 analyzes.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48640" y="2377440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What it captures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48640" y="2743200"/>
            <a:ext cx="6309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Supply &amp; return chilled-water temperature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Water flow rate and total cooling load (kW)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Chiller power consumption over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Server workload, inlet / outlet / ambient temperature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48640" y="4206240"/>
            <a:ext cx="6309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How researchers use data like this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48640" y="4572000"/>
            <a:ext cx="6309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Optimization modeling — the most efficient way to run a chiller plant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Anomaly detection — flagging readings that break the normal pattern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7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Control system design — validating automated cooling responses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7223760" y="2377440"/>
            <a:ext cx="4419295" cy="3657600"/>
          </a:xfrm>
          <a:prstGeom prst="roundRect">
            <a:avLst>
              <a:gd fmla="val 2000" name="adj"/>
            </a:avLst>
          </a:prstGeom>
          <a:solidFill>
            <a:srgbClr val="0F1B2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9044788" y="2697480"/>
            <a:ext cx="777240" cy="777240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6870" y="289956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7452360" y="3657600"/>
            <a:ext cx="3962095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cold_source_control_dataset.csv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7498080" y="4343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3,498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9052560" y="4343400"/>
            <a:ext cx="23161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hourly readings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7498080" y="4846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5 months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052560" y="4846320"/>
            <a:ext cx="23161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Jan – May 2025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498080" y="53492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052560" y="5349240"/>
            <a:ext cx="231617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tracked fields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HANDS-ON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Building a Personal Data Center Monitor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Two inexpensive sensors — the DHT22 (temperature + humidity) and BMP280 (pressure + temperature) — let you measure the same three parameters that industrial data centers track 24/7, for under $30.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13"/>
          <p:cNvGraphicFramePr/>
          <p:nvPr/>
        </p:nvGraphicFramePr>
        <p:xfrm>
          <a:off x="54864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{F101ED72-F9F0-45BB-BD70-40937139EA29}</a:tableStyleId>
              </a:tblPr>
              <a:tblGrid>
                <a:gridCol w="2103125"/>
                <a:gridCol w="2103125"/>
                <a:gridCol w="91440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Purpose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Arduino Uno / Nano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Main microcontroller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$10–25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DHT22 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 + humidity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$4–8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BMP280 module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Pressure + temperature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$2–5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Breadboard + wires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Connects components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$5–10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kΩ resistor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DHT22 data pull-up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B6B79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5B6B7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3"/>
          <p:cNvSpPr/>
          <p:nvPr/>
        </p:nvSpPr>
        <p:spPr>
          <a:xfrm>
            <a:off x="548640" y="45720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Total under $30 if you already have a USB cable and computer.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080760" y="2148840"/>
            <a:ext cx="556229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Wiring at a glance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080760" y="2542032"/>
            <a:ext cx="457200" cy="45720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32" y="26609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3"/>
          <p:cNvSpPr/>
          <p:nvPr/>
        </p:nvSpPr>
        <p:spPr>
          <a:xfrm>
            <a:off x="6675120" y="2505456"/>
            <a:ext cx="4967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DHT22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675120" y="2788920"/>
            <a:ext cx="49679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Data → Digital Pin 2 (with 10kΩ pull-up to VCC)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080760" y="3383280"/>
            <a:ext cx="457200" cy="45720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32" y="35021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/>
          <p:nvPr/>
        </p:nvSpPr>
        <p:spPr>
          <a:xfrm>
            <a:off x="6675120" y="3346704"/>
            <a:ext cx="4967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BMP280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6675120" y="3630168"/>
            <a:ext cx="49679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SDA → A4, SCL → A5 (I²C, address 0x76)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6080760" y="4224528"/>
            <a:ext cx="457200" cy="45720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32" y="43434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6675120" y="4187952"/>
            <a:ext cx="496793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BMP280 power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675120" y="4471416"/>
            <a:ext cx="49679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3.3V only — never connect to 5V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HANDS-ON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Reading the Data — With Built-In ASHRAE Checks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48640" y="148132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Serial Monitor output (9600 baud, one reading every 3 seconds)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1" name="Google Shape;261;p14"/>
          <p:cNvGraphicFramePr/>
          <p:nvPr/>
        </p:nvGraphicFramePr>
        <p:xfrm>
          <a:off x="548640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{F101ED72-F9F0-45BB-BD70-40937139EA29}</a:tableStyleId>
              </a:tblPr>
              <a:tblGrid>
                <a:gridCol w="548650"/>
                <a:gridCol w="1188725"/>
                <a:gridCol w="1188725"/>
                <a:gridCol w="1097275"/>
                <a:gridCol w="1371600"/>
                <a:gridCol w="9144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Temp (°C)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Temp (°F)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Humidity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Pressure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ourier New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Altitude</a:t>
                      </a:r>
                      <a:endParaRPr sz="10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2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24.5°C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76.1°F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52.0%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1012.45 hPa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8.2 m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24.6°C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76.3°F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51.8%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1012.47 hPa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8.1 m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9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24.6°C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76.3°F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52.1%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1012.44 hPa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8.3 m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2" name="Google Shape;262;p14"/>
          <p:cNvSpPr/>
          <p:nvPr/>
        </p:nvSpPr>
        <p:spPr>
          <a:xfrm>
            <a:off x="548640" y="3520440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Each reading is checked against the report's own ASHRAE thresholds in real time: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548640" y="3977640"/>
            <a:ext cx="6309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Temp &gt; 27°C → “Above ASHRAE recommended max inlet temp”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Humidity &lt; 40% → “ESD risk” warning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Humidity &gt; 60% → “Condensation risk” warning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7040880" y="1810512"/>
            <a:ext cx="4602175" cy="4251960"/>
          </a:xfrm>
          <a:prstGeom prst="roundRect">
            <a:avLst>
              <a:gd fmla="val 1720" name="adj"/>
            </a:avLst>
          </a:prstGeom>
          <a:solidFill>
            <a:srgbClr val="172638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7315200" y="2011680"/>
            <a:ext cx="4053535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if (tempC_dht &gt; 27.0)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  Serial.println("WARNING: Above ASHRAE max");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if (humidity &lt; 40.0)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  Serial.println("WARNING: ESD risk");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if (humidity &gt; 60.0) {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  Serial.println("WARNING: Condensation risk");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EA"/>
              </a:buClr>
              <a:buSzPts val="1250"/>
              <a:buFont typeface="Courier New"/>
              <a:buNone/>
            </a:pPr>
            <a:r>
              <a:rPr b="0" i="0" lang="en-US" sz="1250" u="none" cap="none" strike="noStrike">
                <a:solidFill>
                  <a:srgbClr val="CFE3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PART 1 RECAP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Report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548640" y="1554480"/>
            <a:ext cx="5212080" cy="1874520"/>
          </a:xfrm>
          <a:prstGeom prst="roundRect">
            <a:avLst>
              <a:gd fmla="val 3902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822960" y="1847088"/>
            <a:ext cx="566928" cy="566928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36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/>
          <p:nvPr/>
        </p:nvSpPr>
        <p:spPr>
          <a:xfrm>
            <a:off x="1554480" y="181051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Temperature is the clearest signal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1554480" y="2267712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The most direct read on hardware health and cooling effectiveness — which is why it gets the most sensors.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6126480" y="1554480"/>
            <a:ext cx="5212080" cy="1874520"/>
          </a:xfrm>
          <a:prstGeom prst="roundRect">
            <a:avLst>
              <a:gd fmla="val 3902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6400800" y="1847088"/>
            <a:ext cx="566928" cy="566928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8201" y="199448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5"/>
          <p:cNvSpPr/>
          <p:nvPr/>
        </p:nvSpPr>
        <p:spPr>
          <a:xfrm>
            <a:off x="7132320" y="181051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Humidity is dangerous at both ends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7132320" y="2267712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Too dry risks static discharge; too humid risks condensation and corrosion. There's no safe direction to drift.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48640" y="3703320"/>
            <a:ext cx="5212080" cy="1874520"/>
          </a:xfrm>
          <a:prstGeom prst="roundRect">
            <a:avLst>
              <a:gd fmla="val 3902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822960" y="3995928"/>
            <a:ext cx="566928" cy="566928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5" name="Google Shape;2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0361" y="41433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/>
          <p:nvPr/>
        </p:nvSpPr>
        <p:spPr>
          <a:xfrm>
            <a:off x="1554480" y="395935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Pressure gives airflow its context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554480" y="4416552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It doesn't cool anything directly, but it proves cool air is actually reaching the racks that need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6126480" y="3703320"/>
            <a:ext cx="5212080" cy="1874520"/>
          </a:xfrm>
          <a:prstGeom prst="roundRect">
            <a:avLst>
              <a:gd fmla="val 3902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6400800" y="3995928"/>
            <a:ext cx="566928" cy="566928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48201" y="41433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5"/>
          <p:cNvSpPr/>
          <p:nvPr/>
        </p:nvSpPr>
        <p:spPr>
          <a:xfrm>
            <a:off x="7132320" y="3959352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physics don't change with scale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132320" y="4416552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 $5 sensor and a $15 microcontroller measure the same properties a $10B hyperscale facility tracks — just at a smaller scale.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A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0" y="26060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AFC4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31520" y="2971800"/>
            <a:ext cx="1072865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Report to Live Data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1645920" y="3977640"/>
            <a:ext cx="88998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Inside Ranveer's Google Colab analysis pipeline — and how it connects back to the report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4422496" y="4846320"/>
            <a:ext cx="164592" cy="164592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4952848" y="4846320"/>
            <a:ext cx="164592" cy="164592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5483200" y="4846320"/>
            <a:ext cx="164592" cy="164592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6013552" y="4846320"/>
            <a:ext cx="164592" cy="164592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6543904" y="4846320"/>
            <a:ext cx="164592" cy="164592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7074256" y="4846320"/>
            <a:ext cx="164592" cy="164592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7604608" y="4846320"/>
            <a:ext cx="164592" cy="164592"/>
          </a:xfrm>
          <a:prstGeom prst="ellipse">
            <a:avLst/>
          </a:prstGeom>
          <a:solidFill>
            <a:srgbClr val="1FAFC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"/>
          <p:cNvSpPr/>
          <p:nvPr/>
        </p:nvSpPr>
        <p:spPr>
          <a:xfrm>
            <a:off x="548640" y="45720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IOT_DATA_ANALYSIS.IPYNB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48640" y="713232"/>
            <a:ext cx="1109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How the Colab Notebook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48640" y="2446060"/>
            <a:ext cx="2541900" cy="1965900"/>
          </a:xfrm>
          <a:prstGeom prst="roundRect">
            <a:avLst>
              <a:gd fmla="val 3721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749808" y="2628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2377440" y="2628940"/>
            <a:ext cx="457200" cy="45720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6312" y="27478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7"/>
          <p:cNvSpPr/>
          <p:nvPr/>
        </p:nvSpPr>
        <p:spPr>
          <a:xfrm>
            <a:off x="749808" y="3159292"/>
            <a:ext cx="213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Mount Google Drive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749808" y="3525052"/>
            <a:ext cx="213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drive.mount('/content/drive') — so the CSV loads with no manual upload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3255264" y="2446060"/>
            <a:ext cx="2541900" cy="1965900"/>
          </a:xfrm>
          <a:prstGeom prst="roundRect">
            <a:avLst>
              <a:gd fmla="val 3721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3456432" y="2628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5084064" y="2628940"/>
            <a:ext cx="457200" cy="45720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2936" y="27478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/>
          <p:nvPr/>
        </p:nvSpPr>
        <p:spPr>
          <a:xfrm>
            <a:off x="3456432" y="3159292"/>
            <a:ext cx="213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Load &amp; clean the CSV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456432" y="3525052"/>
            <a:ext cx="213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Reads cold_source_control_dataset.csv, drops 4 unused columns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5961888" y="2446060"/>
            <a:ext cx="2541900" cy="1965900"/>
          </a:xfrm>
          <a:prstGeom prst="roundRect">
            <a:avLst>
              <a:gd fmla="val 3721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6163056" y="2628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7790688" y="2628940"/>
            <a:ext cx="457200" cy="45720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560" y="27478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7"/>
          <p:cNvSpPr/>
          <p:nvPr/>
        </p:nvSpPr>
        <p:spPr>
          <a:xfrm>
            <a:off x="6163056" y="3159292"/>
            <a:ext cx="213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Parse timestamps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6163056" y="3525052"/>
            <a:ext cx="213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Converts the Timestamp column to real datetime objects for plotting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8668512" y="2446060"/>
            <a:ext cx="2541900" cy="1965900"/>
          </a:xfrm>
          <a:prstGeom prst="roundRect">
            <a:avLst>
              <a:gd fmla="val 3721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8869680" y="26289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0497312" y="2628940"/>
            <a:ext cx="457200" cy="457200"/>
          </a:xfrm>
          <a:prstGeom prst="ellipse">
            <a:avLst/>
          </a:prstGeom>
          <a:solidFill>
            <a:srgbClr val="0F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6184" y="27478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7"/>
          <p:cNvSpPr/>
          <p:nvPr/>
        </p:nvSpPr>
        <p:spPr>
          <a:xfrm>
            <a:off x="8869680" y="3159292"/>
            <a:ext cx="213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Plot 7 metrics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8869680" y="3525052"/>
            <a:ext cx="213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Workload, temps, cooling power, chiller &amp; AHU usage — one line chart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8"/>
          <p:cNvSpPr txBox="1"/>
          <p:nvPr/>
        </p:nvSpPr>
        <p:spPr>
          <a:xfrm>
            <a:off x="548640" y="457200"/>
            <a:ext cx="731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REGRESSION QUESTION SET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548640" y="713232"/>
            <a:ext cx="1109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Questions 1-2: Original Set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548640" y="1249680"/>
            <a:ext cx="10820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Eight total questions: the original five from Drive plus the three new predictive questions.</a:t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548640" y="1813560"/>
            <a:ext cx="11094600" cy="40701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 txBox="1"/>
          <p:nvPr/>
        </p:nvSpPr>
        <p:spPr>
          <a:xfrm>
            <a:off x="1005840" y="2150000"/>
            <a:ext cx="101499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Q1. How frequently does the cooling system violate the ASHRAE recommended maximum inlet temperature threshold of 27°C?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Logistic, if reframed as violation vs no violation.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The prediction target is binary.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No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Q2. Which cooling strategy achieves the best balance between minimizing financial overhead and maximizing thermal stability?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Multinomial logistic, if strategy choice becomes the target.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The output would be one category from several strategy options.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No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548640" y="6190000"/>
            <a:ext cx="66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Original questions from the Drive notebook · not selected for the current scripts</a:t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"/>
          <p:cNvSpPr txBox="1"/>
          <p:nvPr/>
        </p:nvSpPr>
        <p:spPr>
          <a:xfrm>
            <a:off x="548640" y="457200"/>
            <a:ext cx="731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REGRESSION QUESTION SET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548640" y="713232"/>
            <a:ext cx="1109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Questions 3-4: Original Set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57" name="Google Shape;357;p19"/>
          <p:cNvSpPr txBox="1"/>
          <p:nvPr/>
        </p:nvSpPr>
        <p:spPr>
          <a:xfrm>
            <a:off x="548640" y="1249680"/>
            <a:ext cx="10820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These questions are useful analysis ideas, but they are not the three scripts selected right now.</a:t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48640" y="1813560"/>
            <a:ext cx="11094600" cy="40701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1005840" y="2150000"/>
            <a:ext cx="101499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Q3. Under what combined conditions of ambient temperature does the control loop rely heavily on chiller usage over AHU usage?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Logistic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The target can be chiller-dominant vs not chiller-dominant.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No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Q4. As workload rises, how much additional heat appears across the rack airflow path, and does cooling respond before inlet temperatures drift toward the ASHRAE limit?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Linear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Thermal delta and cooling response are continuous values.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No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548640" y="6190000"/>
            <a:ext cx="66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Original questions from the Drive notebook · not selected for the current scripts</a:t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0"/>
          <p:cNvSpPr txBox="1"/>
          <p:nvPr/>
        </p:nvSpPr>
        <p:spPr>
          <a:xfrm>
            <a:off x="548640" y="457200"/>
            <a:ext cx="731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REGRESSION QUESTION SET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548640" y="713232"/>
            <a:ext cx="1109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Questions 5-6: Original + Selected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548640" y="1249680"/>
            <a:ext cx="10820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Question 6 is one of the three chosen prediction scripts for the next Colab work.</a:t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48640" y="1813560"/>
            <a:ext cx="11094600" cy="40701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 txBox="1"/>
          <p:nvPr/>
        </p:nvSpPr>
        <p:spPr>
          <a:xfrm>
            <a:off x="1005840" y="2150000"/>
            <a:ext cx="101499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Q5. When outdoor ambient temperature increases, how much harder do the cooling units work, and how much does total energy cost rise across the hottest temperature band?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Linear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Cooling power and cost are continuous values.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No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Q6. Can current workload and temperature readings predict the server inlet temperature at the next recorded time interval?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Linear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Future inlet temperature is a continuous numeric value.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YES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548640" y="6190000"/>
            <a:ext cx="66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Selected script: Q6 uses linear regression</a:t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"/>
          <p:cNvSpPr txBox="1"/>
          <p:nvPr/>
        </p:nvSpPr>
        <p:spPr>
          <a:xfrm>
            <a:off x="548640" y="457200"/>
            <a:ext cx="7315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REGRESSION QUESTION SET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548640" y="713232"/>
            <a:ext cx="110943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Questions 7-8: Selected Scripts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548640" y="1249680"/>
            <a:ext cx="10820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These two questions complete the current set of three prediction scripts.</a:t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548640" y="1813560"/>
            <a:ext cx="11094600" cy="40701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1005840" y="2150000"/>
            <a:ext cx="10149900" cy="3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Q7. Can current operating conditions predict whether the inlet temperature will exceed the 27°C ASHRAE limit during the next interval?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Logistic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The output is binary: violation or no violation.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YES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Q8. Can workload, ambient temperature, and cooling utilization predict cooling-unit power consumption?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Regression: Linear regression.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Why: Cooling-unit power is a continuous numeric value.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Use: YES</a:t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548640" y="6190000"/>
            <a:ext cx="66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Selected scripts: Q7 uses logistic regression · Q8 uses linear regression</a:t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6F8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RESEARCH QUESTION OUTPUT #1 · ASHRAE COMPLIANCE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548640" y="731520"/>
            <a:ext cx="78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Inlet Temps Stay Below ASHRAE Limit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8382000" y="1539240"/>
            <a:ext cx="3108900" cy="3535800"/>
          </a:xfrm>
          <a:prstGeom prst="roundRect">
            <a:avLst>
              <a:gd fmla="val 16667" name="adj"/>
            </a:avLst>
          </a:prstGeom>
          <a:solidFill>
            <a:srgbClr val="EAF0F3"/>
          </a:solidFill>
          <a:ln cap="flat" cmpd="sng" w="952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8595360" y="1752600"/>
            <a:ext cx="26823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cooling system is almost always inside the ASHRAE recommended inlet-temperature max.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3,498 readings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4 violations above 27°C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0.11% violation rate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red limit line sits at the far right tail, so overheating appears rare rather than routine.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63328"/>
            <a:ext cx="7315200" cy="36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RESEARCH QUESTION OUTPUT #2 · STRATEGY TRADE-OFF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 txBox="1"/>
          <p:nvPr/>
        </p:nvSpPr>
        <p:spPr>
          <a:xfrm>
            <a:off x="548640" y="731520"/>
            <a:ext cx="78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Cost Is Tight; Stability Drives Choice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8382000" y="1539240"/>
            <a:ext cx="3108900" cy="3535800"/>
          </a:xfrm>
          <a:prstGeom prst="roundRect">
            <a:avLst>
              <a:gd fmla="val 16667" name="adj"/>
            </a:avLst>
          </a:prstGeom>
          <a:solidFill>
            <a:srgbClr val="EAF0F3"/>
          </a:solidFill>
          <a:ln cap="flat" cmpd="sng" w="952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8595360" y="1752600"/>
            <a:ext cx="26823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best strategy is a trade-off, not the lowest bar alone.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Mean energy cost stays tightly clustered across actions, while temperature deviation changes more visibly.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Because cost differences are small, the strategy decision should prioritize thermal stability unless a cost gap becomes meaningful.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732719"/>
            <a:ext cx="7315200" cy="327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RESEARCH QUESTION OUTPUT #3 · CHILLER VS. AHU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4"/>
          <p:cNvSpPr txBox="1"/>
          <p:nvPr/>
        </p:nvSpPr>
        <p:spPr>
          <a:xfrm>
            <a:off x="548640" y="731520"/>
            <a:ext cx="78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Ambient Heat Shifts Load Toward AHU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8382000" y="1539240"/>
            <a:ext cx="3108900" cy="3535800"/>
          </a:xfrm>
          <a:prstGeom prst="roundRect">
            <a:avLst>
              <a:gd fmla="val 16667" name="adj"/>
            </a:avLst>
          </a:prstGeom>
          <a:solidFill>
            <a:srgbClr val="EAF0F3"/>
          </a:solidFill>
          <a:ln cap="flat" cmpd="sng" w="952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8595360" y="1752600"/>
            <a:ext cx="26823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control loop changes which cooling component carries the work as outdoor conditions heat up.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AHU usage climbs across warmer ambient bands, while chiller usage drops in the hottest band.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Air-side handling becomes more active under heat stress, showing that the cooling loop is adaptive rather than fixed.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2" name="Google Shape;4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2290"/>
            <a:ext cx="7315199" cy="363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RESEARCH QUESTION OUTPUT #4 · WORKLOAD RESPONSE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 txBox="1"/>
          <p:nvPr/>
        </p:nvSpPr>
        <p:spPr>
          <a:xfrm>
            <a:off x="548640" y="731520"/>
            <a:ext cx="78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Cooling Power Tracks Compute Load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8382000" y="1539240"/>
            <a:ext cx="3108900" cy="3535800"/>
          </a:xfrm>
          <a:prstGeom prst="roundRect">
            <a:avLst>
              <a:gd fmla="val 16667" name="adj"/>
            </a:avLst>
          </a:prstGeom>
          <a:solidFill>
            <a:srgbClr val="EAF0F3"/>
          </a:solidFill>
          <a:ln cap="flat" cmpd="sng" w="952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8595360" y="1752600"/>
            <a:ext cx="26823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Cooling power responds strongly when server workload rises.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Workload vs. cooling power correlation: r = 0.94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Workload vs. thermal delta correlation: r = -0.02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cooling system increases power with compute load, keeping thermal delta roughly flat instead of letting heat build up across the rack.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63328"/>
            <a:ext cx="7315200" cy="360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RESEARCH QUESTION OUTPUT #5 · AMBIENT HEAT STRESS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 txBox="1"/>
          <p:nvPr/>
        </p:nvSpPr>
        <p:spPr>
          <a:xfrm>
            <a:off x="548640" y="731520"/>
            <a:ext cx="780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Outdoor Heat Raises Cooling Cost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8382000" y="1539240"/>
            <a:ext cx="3108900" cy="3535800"/>
          </a:xfrm>
          <a:prstGeom prst="roundRect">
            <a:avLst>
              <a:gd fmla="val 16667" name="adj"/>
            </a:avLst>
          </a:prstGeom>
          <a:solidFill>
            <a:srgbClr val="EAF0F3"/>
          </a:solidFill>
          <a:ln cap="flat" cmpd="sng" w="9525">
            <a:solidFill>
              <a:srgbClr val="1FAF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"/>
          <p:cNvSpPr txBox="1"/>
          <p:nvPr/>
        </p:nvSpPr>
        <p:spPr>
          <a:xfrm>
            <a:off x="8595360" y="1752600"/>
            <a:ext cx="26823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Claim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Hotter outdoor conditions make the cooling system work harder and cost more.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Hottest band vs. coolest band: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+8.38% cooling power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+8.74% energy cost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Reasoning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Ambient heat stress raises the energy needed to maintain safe inlet temperatures, linking weather directly to operating cost.</a:t>
            </a:r>
            <a:endParaRPr sz="115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2" name="Google Shape;43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732719"/>
            <a:ext cx="7315200" cy="327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PIPELINE OUTPUT #1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What the Code Actually Produces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chart1_notebook_output.png" id="440" name="Google Shape;4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6675120" cy="361530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7"/>
          <p:cNvSpPr/>
          <p:nvPr/>
        </p:nvSpPr>
        <p:spPr>
          <a:xfrm>
            <a:off x="7589520" y="1600200"/>
            <a:ext cx="4053535" cy="3615306"/>
          </a:xfrm>
          <a:prstGeom prst="roundRect">
            <a:avLst>
              <a:gd fmla="val 2023" name="adj"/>
            </a:avLst>
          </a:prstGeom>
          <a:solidFill>
            <a:srgbClr val="F6F9F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7"/>
          <p:cNvSpPr/>
          <p:nvPr/>
        </p:nvSpPr>
        <p:spPr>
          <a:xfrm>
            <a:off x="7863840" y="1828800"/>
            <a:ext cx="3504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Bug-fixed, faithful reproduction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7863840" y="2331720"/>
            <a:ext cx="3504895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Plots the first 20 hourly readings exactly as the code requests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Server Workload and Chiller Usage (both %) dominate the y-axis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Cooling_Unit_Power_Consumption (kW, range ~0.3–1.1) is squashed flat near zero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7863840" y="4163946"/>
            <a:ext cx="3504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Design note: mixing %, °C, and kW on one axis hides the kW line. Splitting into 2–3 small-multiple panels (or a secondary axis) would make every metric readable.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PIPELINE OUTPUT #2  ·  CONNECTING TO THE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Does the Real Data Match the Standard?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chart2_ashrae_compliance.png" id="452" name="Google Shape;4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600200"/>
            <a:ext cx="7772400" cy="4046787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/>
          <p:nvPr/>
        </p:nvSpPr>
        <p:spPr>
          <a:xfrm>
            <a:off x="8641080" y="1600200"/>
            <a:ext cx="3001975" cy="4046787"/>
          </a:xfrm>
          <a:prstGeom prst="roundRect">
            <a:avLst>
              <a:gd fmla="val 2437" name="adj"/>
            </a:avLst>
          </a:prstGeom>
          <a:solidFill>
            <a:srgbClr val="0F1B2A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8"/>
          <p:cNvSpPr/>
          <p:nvPr/>
        </p:nvSpPr>
        <p:spPr>
          <a:xfrm>
            <a:off x="8869680" y="1965960"/>
            <a:ext cx="2544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FC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FAFC4"/>
                </a:solidFill>
                <a:latin typeface="Cambria"/>
                <a:ea typeface="Cambria"/>
                <a:cs typeface="Cambria"/>
                <a:sym typeface="Cambria"/>
              </a:rPr>
              <a:t>99.9%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8915400" y="2670048"/>
            <a:ext cx="24533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of all 3,498 readings stayed inside the ASHRAE 18–27°C recommended band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6" name="Google Shape;456;p28"/>
          <p:cNvCxnSpPr/>
          <p:nvPr/>
        </p:nvCxnSpPr>
        <p:spPr>
          <a:xfrm>
            <a:off x="9098280" y="3520440"/>
            <a:ext cx="2087575" cy="0"/>
          </a:xfrm>
          <a:prstGeom prst="straightConnector1">
            <a:avLst/>
          </a:prstGeom>
          <a:noFill/>
          <a:ln cap="flat" cmpd="sng" w="12700">
            <a:solidFill>
              <a:srgbClr val="2A3F5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7" name="Google Shape;457;p28"/>
          <p:cNvSpPr/>
          <p:nvPr/>
        </p:nvSpPr>
        <p:spPr>
          <a:xfrm>
            <a:off x="8869680" y="3657600"/>
            <a:ext cx="254477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8622C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8915400" y="4224528"/>
            <a:ext cx="24533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D7E3E9"/>
                </a:solidFill>
                <a:latin typeface="Calibri"/>
                <a:ea typeface="Calibri"/>
                <a:cs typeface="Calibri"/>
                <a:sym typeface="Calibri"/>
              </a:rPr>
              <a:t>readings ever crossed the 32°C allowable maximum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PIPELINE OUTPUT #3  ·  CONNECTING TO THE 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The Leading Indicator, Confirmed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s/chart3_workload_vs_cooling.png" id="466" name="Google Shape;4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742417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9"/>
          <p:cNvSpPr/>
          <p:nvPr/>
        </p:nvSpPr>
        <p:spPr>
          <a:xfrm>
            <a:off x="8292859" y="1554480"/>
            <a:ext cx="3350196" cy="3657600"/>
          </a:xfrm>
          <a:prstGeom prst="roundRect">
            <a:avLst>
              <a:gd fmla="val 2184" name="adj"/>
            </a:avLst>
          </a:prstGeom>
          <a:solidFill>
            <a:srgbClr val="E3F4F7"/>
          </a:solidFill>
          <a:ln>
            <a:noFill/>
          </a:ln>
          <a:effectLst>
            <a:outerShdw blurRad="127000" rotWithShape="0" algn="bl" dir="5400000" dist="38100">
              <a:srgbClr val="0A1018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9"/>
          <p:cNvSpPr/>
          <p:nvPr/>
        </p:nvSpPr>
        <p:spPr>
          <a:xfrm>
            <a:off x="8521459" y="1874520"/>
            <a:ext cx="28929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2A"/>
                </a:solidFill>
                <a:latin typeface="Cambria"/>
                <a:ea typeface="Cambria"/>
                <a:cs typeface="Cambria"/>
                <a:sym typeface="Cambria"/>
              </a:rPr>
              <a:t>r = 0.94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8567179" y="2423160"/>
            <a:ext cx="28015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correlation between server workload and cooling power draw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521459" y="3246120"/>
            <a:ext cx="2892996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This is the same “compute load drives heat” relationship the report describes in Section 2.2 — now shown directly in 5 months of real readings.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548640" y="544068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report defines the standard. The dataset proves real systems follow it. The Arduino project lets you measure it yourself.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0"/>
          <p:cNvSpPr/>
          <p:nvPr/>
        </p:nvSpPr>
        <p:spPr>
          <a:xfrm>
            <a:off x="0" y="0"/>
            <a:ext cx="189900" cy="6858000"/>
          </a:xfrm>
          <a:prstGeom prst="rect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0"/>
          <p:cNvSpPr txBox="1"/>
          <p:nvPr/>
        </p:nvSpPr>
        <p:spPr>
          <a:xfrm>
            <a:off x="720000" y="430000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QUESTION 1  |  NEXT INLET TEMP</a:t>
            </a:r>
            <a:endParaRPr b="1" sz="12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0"/>
          <p:cNvSpPr txBox="1"/>
          <p:nvPr/>
        </p:nvSpPr>
        <p:spPr>
          <a:xfrm>
            <a:off x="720000" y="760000"/>
            <a:ext cx="5900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Next-Hour Inlet Temperature Is Not Predictable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760000" y="1650000"/>
            <a:ext cx="53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 chronological 80/20 linear-regression test found no useful next-interval signal.</a:t>
            </a:r>
            <a:endParaRPr sz="160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 txBox="1"/>
          <p:nvPr/>
        </p:nvSpPr>
        <p:spPr>
          <a:xfrm>
            <a:off x="760000" y="2700000"/>
            <a:ext cx="50001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R² = -0.007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MAE = 1.785°C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RMSE = 2.218°C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What it means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Predictions collapse near the training mean.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Use this as a valid negative result, not a forecasting claim.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p30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7100173" y="1650000"/>
            <a:ext cx="4499652" cy="3736999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0"/>
          <p:cNvSpPr txBox="1"/>
          <p:nvPr/>
        </p:nvSpPr>
        <p:spPr>
          <a:xfrm>
            <a:off x="7100000" y="5500000"/>
            <a:ext cx="45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25C63"/>
                </a:solidFill>
                <a:latin typeface="Calibri"/>
                <a:ea typeface="Calibri"/>
                <a:cs typeface="Calibri"/>
                <a:sym typeface="Calibri"/>
              </a:rPr>
              <a:t>Actual vs. predicted inlet temperature on chronological test data.</a:t>
            </a:r>
            <a:endParaRPr sz="1100">
              <a:solidFill>
                <a:srgbClr val="525C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/>
          <p:nvPr/>
        </p:nvSpPr>
        <p:spPr>
          <a:xfrm>
            <a:off x="0" y="0"/>
            <a:ext cx="189900" cy="6858000"/>
          </a:xfrm>
          <a:prstGeom prst="rect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720000" y="430000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QUESTION 2  |  ASHRAE RISK</a:t>
            </a:r>
            <a:endParaRPr b="1" sz="12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720000" y="760000"/>
            <a:ext cx="5900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Four Violations Cannot Train a Reliable Classifier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760000" y="1650000"/>
            <a:ext cx="53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Only four of 3,497 shifted targets exceeded 27°C, so a standalone logistic model would be misleading.</a:t>
            </a:r>
            <a:endParaRPr sz="160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760000" y="2700000"/>
            <a:ext cx="50001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Chronological test set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699 no-violation intervals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1 violation interval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Derived alert result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TN 699  |  FP 0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FN 1  |  TP 0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Use the 27°C rule as a warning threshold,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not as proof of a trained classifier.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4" name="Google Shape;494;p31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7100173" y="1650000"/>
            <a:ext cx="4499652" cy="3736999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1"/>
          <p:cNvSpPr txBox="1"/>
          <p:nvPr/>
        </p:nvSpPr>
        <p:spPr>
          <a:xfrm>
            <a:off x="7100000" y="5500000"/>
            <a:ext cx="45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25C63"/>
                </a:solidFill>
                <a:latin typeface="Calibri"/>
                <a:ea typeface="Calibri"/>
                <a:cs typeface="Calibri"/>
                <a:sym typeface="Calibri"/>
              </a:rPr>
              <a:t>Class balance and derived-alert confusion matrix for the test set.</a:t>
            </a:r>
            <a:endParaRPr sz="1100">
              <a:solidFill>
                <a:srgbClr val="525C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2"/>
          <p:cNvSpPr/>
          <p:nvPr/>
        </p:nvSpPr>
        <p:spPr>
          <a:xfrm>
            <a:off x="0" y="0"/>
            <a:ext cx="189900" cy="6858000"/>
          </a:xfrm>
          <a:prstGeom prst="rect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2"/>
          <p:cNvSpPr txBox="1"/>
          <p:nvPr/>
        </p:nvSpPr>
        <p:spPr>
          <a:xfrm>
            <a:off x="720000" y="430000"/>
            <a:ext cx="24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D55421"/>
                </a:solidFill>
                <a:latin typeface="Calibri"/>
                <a:ea typeface="Calibri"/>
                <a:cs typeface="Calibri"/>
                <a:sym typeface="Calibri"/>
              </a:rPr>
              <a:t>QUESTION 3  |  COOLING POWER</a:t>
            </a:r>
            <a:endParaRPr b="1" sz="1200">
              <a:solidFill>
                <a:srgbClr val="D554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2"/>
          <p:cNvSpPr txBox="1"/>
          <p:nvPr/>
        </p:nvSpPr>
        <p:spPr>
          <a:xfrm>
            <a:off x="720000" y="760000"/>
            <a:ext cx="5900100" cy="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Cooling Power Is Estimated Almost Exactly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04" name="Google Shape;504;p32"/>
          <p:cNvSpPr txBox="1"/>
          <p:nvPr/>
        </p:nvSpPr>
        <p:spPr>
          <a:xfrm>
            <a:off x="760000" y="1650000"/>
            <a:ext cx="53001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A chronological linear model links workload, ambient temperature, chiller use, and AHU use to cooling power.</a:t>
            </a:r>
            <a:endParaRPr sz="1600"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 txBox="1"/>
          <p:nvPr/>
        </p:nvSpPr>
        <p:spPr>
          <a:xfrm>
            <a:off x="760000" y="2700000"/>
            <a:ext cx="50001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R² = 0.999689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MAE = 0.00243 kW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RMSE = 0.00283 kW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Important limitation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This is a same-interval estimate.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42E36"/>
                </a:solidFill>
                <a:latin typeface="Calibri"/>
                <a:ea typeface="Calibri"/>
                <a:cs typeface="Calibri"/>
                <a:sym typeface="Calibri"/>
              </a:rPr>
              <a:t>It is not a future power forecast.</a:t>
            </a:r>
            <a:endParaRPr>
              <a:solidFill>
                <a:srgbClr val="242E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32"/>
          <p:cNvPicPr preferRelativeResize="0"/>
          <p:nvPr/>
        </p:nvPicPr>
        <p:blipFill rotWithShape="1">
          <a:blip r:embed="rId3">
            <a:alphaModFix/>
          </a:blip>
          <a:srcRect b="3635" l="0" r="0" t="3626"/>
          <a:stretch/>
        </p:blipFill>
        <p:spPr>
          <a:xfrm>
            <a:off x="7100000" y="1751541"/>
            <a:ext cx="4500000" cy="3463919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2"/>
          <p:cNvSpPr txBox="1"/>
          <p:nvPr/>
        </p:nvSpPr>
        <p:spPr>
          <a:xfrm>
            <a:off x="7100000" y="5500000"/>
            <a:ext cx="450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25C63"/>
                </a:solidFill>
                <a:latin typeface="Calibri"/>
                <a:ea typeface="Calibri"/>
                <a:cs typeface="Calibri"/>
                <a:sym typeface="Calibri"/>
              </a:rPr>
              <a:t>Actual vs. predicted cooling-unit power on chronological test data.</a:t>
            </a:r>
            <a:endParaRPr sz="1100">
              <a:solidFill>
                <a:srgbClr val="525C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3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REFERENCES · SOURCES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3"/>
          <p:cNvSpPr txBox="1"/>
          <p:nvPr/>
        </p:nvSpPr>
        <p:spPr>
          <a:xfrm>
            <a:off x="548640" y="73152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Evidence Used in the Case Study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548640" y="1432560"/>
            <a:ext cx="10972800" cy="4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ASHRAE. Thermal Guidelines for Data Processing Environments / Datacom Series. Used for inlet-temperature, humidity, and rack-sensor guidance.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Uptime Institute. Annual Outage Analysis 2024. Used for outage/cooling-risk context.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International Energy Agency. Energy and AI. Used for global data-center electricity demand context.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Lawrence Berkeley National Laboratory. 2024 United States Data Center Energy Usage Report. Used for U.S. electricity, emissions, and water-consumption context.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The Green Grid. Power Usage Effectiveness (PUE). Used for the facility-energy efficiency definition.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Kaggle cold_source_control_dataset.csv and Data_Center_Analysis_5_Questions.ipynb. Used for the five notebook visualizations and computed outputs.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Fathom meeting summary, July 7, 2026. Used for CER, glossary, references, and slide-revision action items.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4"/>
          <p:cNvSpPr txBox="1"/>
          <p:nvPr/>
        </p:nvSpPr>
        <p:spPr>
          <a:xfrm>
            <a:off x="548640" y="4572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8622C"/>
                </a:solidFill>
                <a:latin typeface="Calibri"/>
                <a:ea typeface="Calibri"/>
                <a:cs typeface="Calibri"/>
                <a:sym typeface="Calibri"/>
              </a:rPr>
              <a:t>IMPLEMENTATION UPDATE</a:t>
            </a:r>
            <a:endParaRPr b="1" sz="1200">
              <a:solidFill>
                <a:srgbClr val="E862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4"/>
          <p:cNvSpPr txBox="1"/>
          <p:nvPr/>
        </p:nvSpPr>
        <p:spPr>
          <a:xfrm>
            <a:off x="548640" y="731520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Cooling Project: Current Implementation</a:t>
            </a:r>
            <a:endParaRPr b="1" sz="3000">
              <a:solidFill>
                <a:srgbClr val="1620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23" name="Google Shape;523;p34"/>
          <p:cNvSpPr txBox="1"/>
          <p:nvPr/>
        </p:nvSpPr>
        <p:spPr>
          <a:xfrm>
            <a:off x="548640" y="1432560"/>
            <a:ext cx="10972800" cy="4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Completed pipeline</a:t>
            </a:r>
            <a:endParaRPr b="1"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Scenario-aware cooling events publish to MQTT, are validated by a subscriber, and can be stored in PostgreSQL.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Traceable exports</a:t>
            </a:r>
            <a:endParaRPr b="1"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Model-compatible CSVs retain operational fields plus scenario, severity, data quality, and outlier metadata.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What the analysis adds</a:t>
            </a:r>
            <a:endParaRPr b="1"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Database summaries cover workload, temperature, cooling power, cost, control strategy, thermal risk, and unusual events.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Validation still required</a:t>
            </a:r>
            <a:endParaRPr b="1"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 live dashboard demonstration and a Colab retraining run need read-back evidence before they can be called complete.</a:t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620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A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5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5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7C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FB7C2"/>
                </a:solidFill>
                <a:latin typeface="Calibri"/>
                <a:ea typeface="Calibri"/>
                <a:cs typeface="Calibri"/>
                <a:sym typeface="Calibri"/>
              </a:rPr>
              <a:t>Questions about the report, the sensors, or the pipeline?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889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F8896"/>
                </a:solidFill>
                <a:latin typeface="Calibri"/>
                <a:ea typeface="Calibri"/>
                <a:cs typeface="Calibri"/>
                <a:sym typeface="Calibri"/>
              </a:rPr>
              <a:t>Ranveer Singh   ·   ByteSmart Internship   ·   June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5"/>
          <p:cNvSpPr/>
          <p:nvPr/>
        </p:nvSpPr>
        <p:spPr>
          <a:xfrm>
            <a:off x="4678528" y="4114800"/>
            <a:ext cx="640080" cy="640080"/>
          </a:xfrm>
          <a:prstGeom prst="ellipse">
            <a:avLst/>
          </a:prstGeom>
          <a:solidFill>
            <a:srgbClr val="172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3" name="Google Shape;5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948" y="4281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5"/>
          <p:cNvSpPr/>
          <p:nvPr/>
        </p:nvSpPr>
        <p:spPr>
          <a:xfrm>
            <a:off x="5775808" y="4114800"/>
            <a:ext cx="640080" cy="640080"/>
          </a:xfrm>
          <a:prstGeom prst="ellipse">
            <a:avLst/>
          </a:prstGeom>
          <a:solidFill>
            <a:srgbClr val="E862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5" name="Google Shape;53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2228" y="42812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5"/>
          <p:cNvSpPr/>
          <p:nvPr/>
        </p:nvSpPr>
        <p:spPr>
          <a:xfrm>
            <a:off x="6873088" y="4114800"/>
            <a:ext cx="640080" cy="640080"/>
          </a:xfrm>
          <a:prstGeom prst="ellipse">
            <a:avLst/>
          </a:prstGeom>
          <a:solidFill>
            <a:srgbClr val="172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7" name="Google Shape;53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9508" y="4281221"/>
            <a:ext cx="307238" cy="30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